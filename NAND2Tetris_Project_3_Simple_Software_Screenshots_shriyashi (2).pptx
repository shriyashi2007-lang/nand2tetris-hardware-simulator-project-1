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-876" y="-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"/>
              </a:defRPr>
            </a:pPr>
            <a:r>
              <a:t>NAND2Tetris — Project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  <a:latin typeface="Aptos"/>
              </a:defRPr>
            </a:pPr>
            <a:r>
              <a:t>Sequential Logic &amp; Memory Chips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03036" cy="38010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78AF"/>
                </a:solidFill>
              </a:defRPr>
            </a:pPr>
            <a:r>
              <a:rPr dirty="0"/>
              <a:t>Project 3: Sequential Chips</a:t>
            </a:r>
          </a:p>
          <a:p>
            <a:pPr>
              <a:defRPr sz="1700">
                <a:solidFill>
                  <a:srgbClr val="192D46"/>
                </a:solidFill>
              </a:defRPr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92D46"/>
                </a:solidFill>
              </a:defRPr>
            </a:pPr>
            <a:r>
              <a:rPr dirty="0" smtClean="0"/>
              <a:t>Bit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92D46"/>
                </a:solidFill>
              </a:defRPr>
            </a:pPr>
            <a:r>
              <a:rPr dirty="0" smtClean="0"/>
              <a:t>Register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92D46"/>
                </a:solidFill>
              </a:defRPr>
            </a:pPr>
            <a:r>
              <a:rPr dirty="0" smtClean="0"/>
              <a:t>RAM8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92D46"/>
                </a:solidFill>
              </a:defRPr>
            </a:pPr>
            <a:r>
              <a:rPr dirty="0" smtClean="0"/>
              <a:t>RAM64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92D46"/>
                </a:solidFill>
              </a:defRPr>
            </a:pPr>
            <a:r>
              <a:rPr dirty="0" smtClean="0"/>
              <a:t>RAM512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92D46"/>
                </a:solidFill>
              </a:defRPr>
            </a:pPr>
            <a:r>
              <a:rPr dirty="0" smtClean="0"/>
              <a:t>RAM4K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92D46"/>
                </a:solidFill>
              </a:defRPr>
            </a:pPr>
            <a:r>
              <a:rPr dirty="0" smtClean="0"/>
              <a:t>RAM16K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  <a:defRPr sz="1700">
                <a:solidFill>
                  <a:srgbClr val="192D46"/>
                </a:solidFill>
              </a:defRPr>
            </a:pPr>
            <a:r>
              <a:rPr dirty="0" smtClean="0"/>
              <a:t>PC</a:t>
            </a:r>
            <a:endParaRPr dirty="0"/>
          </a:p>
          <a:p>
            <a:pPr>
              <a:defRPr sz="1800" b="1">
                <a:solidFill>
                  <a:srgbClr val="5A646E"/>
                </a:solidFill>
              </a:defRPr>
            </a:pPr>
            <a:endParaRPr lang="en-US" dirty="0" smtClean="0"/>
          </a:p>
          <a:p>
            <a:pPr>
              <a:defRPr sz="1800" b="1">
                <a:solidFill>
                  <a:srgbClr val="5A646E"/>
                </a:solidFill>
              </a:defRPr>
            </a:pPr>
            <a:r>
              <a:rPr lang="en-US" dirty="0" err="1" smtClean="0"/>
              <a:t>Submmited</a:t>
            </a:r>
            <a:r>
              <a:rPr lang="en-US" dirty="0" smtClean="0"/>
              <a:t> </a:t>
            </a:r>
            <a:r>
              <a:rPr dirty="0" smtClean="0"/>
              <a:t>by</a:t>
            </a:r>
            <a:r>
              <a:rPr dirty="0"/>
              <a:t>: </a:t>
            </a:r>
            <a:r>
              <a:rPr dirty="0" err="1"/>
              <a:t>Jyoti</a:t>
            </a:r>
            <a:r>
              <a:rPr dirty="0"/>
              <a:t> </a:t>
            </a:r>
            <a:r>
              <a:rPr dirty="0" smtClean="0"/>
              <a:t>Sharma</a:t>
            </a:r>
            <a:endParaRPr lang="en-US" dirty="0" smtClean="0"/>
          </a:p>
          <a:p>
            <a:pPr>
              <a:defRPr sz="1800" b="1">
                <a:solidFill>
                  <a:srgbClr val="5A646E"/>
                </a:solidFill>
              </a:defRPr>
            </a:pPr>
            <a:r>
              <a:rPr lang="en-US" dirty="0" smtClean="0"/>
              <a:t>2501420052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Project 3 • NAND2Tetris • Jyoti Sharma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"/>
              </a:defRPr>
            </a:pPr>
            <a:r>
              <a:t>Bit.hdl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  <a:latin typeface="Aptos"/>
              </a:defRPr>
            </a:pPr>
            <a:r>
              <a:t>NAND2Tetris Hardware Simulator-style code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Project 3 • NAND2Tetris • Jyoti Sharma    2</a:t>
            </a:r>
          </a:p>
        </p:txBody>
      </p:sp>
      <p:pic>
        <p:nvPicPr>
          <p:cNvPr id="1026" name="Picture 2" descr="C:\Users\CCS\Videos\Captures\NAND2Tetris - Google Chrome 06-10-2026 15_21_2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67" y="1265128"/>
            <a:ext cx="6042422" cy="490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62492" y="1265128"/>
            <a:ext cx="3444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Code of BIT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228114" y="2063768"/>
            <a:ext cx="457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CHIP Bit {</a:t>
            </a:r>
          </a:p>
          <a:p>
            <a:r>
              <a:rPr lang="en-US" dirty="0"/>
              <a:t>    IN in, load;</a:t>
            </a:r>
          </a:p>
          <a:p>
            <a:r>
              <a:rPr lang="en-US" dirty="0"/>
              <a:t>    OUT </a:t>
            </a:r>
            <a:r>
              <a:rPr lang="en-US" dirty="0" err="1"/>
              <a:t>out</a:t>
            </a:r>
            <a:r>
              <a:rPr lang="en-US" dirty="0"/>
              <a:t>;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    PARTS:</a:t>
            </a:r>
          </a:p>
          <a:p>
            <a:r>
              <a:rPr lang="en-US" dirty="0"/>
              <a:t>    //// Replace this comment with your code.</a:t>
            </a:r>
          </a:p>
          <a:p>
            <a:r>
              <a:rPr lang="en-US" dirty="0"/>
              <a:t>    Mux(a=</a:t>
            </a:r>
            <a:r>
              <a:rPr lang="en-US" dirty="0" err="1"/>
              <a:t>outLoop</a:t>
            </a:r>
            <a:r>
              <a:rPr lang="en-US" dirty="0"/>
              <a:t> , b=in , </a:t>
            </a:r>
            <a:r>
              <a:rPr lang="en-US" dirty="0" err="1"/>
              <a:t>sel</a:t>
            </a:r>
            <a:r>
              <a:rPr lang="en-US" dirty="0"/>
              <a:t>=load, out=</a:t>
            </a:r>
            <a:r>
              <a:rPr lang="en-US" dirty="0" err="1"/>
              <a:t>muxOut</a:t>
            </a:r>
            <a:r>
              <a:rPr lang="en-US" dirty="0"/>
              <a:t>);</a:t>
            </a:r>
          </a:p>
          <a:p>
            <a:r>
              <a:rPr lang="en-US" dirty="0"/>
              <a:t>    DFF(in=</a:t>
            </a:r>
            <a:r>
              <a:rPr lang="en-US" dirty="0" err="1"/>
              <a:t>muxOut</a:t>
            </a:r>
            <a:r>
              <a:rPr lang="en-US" dirty="0"/>
              <a:t> , out=</a:t>
            </a:r>
            <a:r>
              <a:rPr lang="en-US" dirty="0" err="1"/>
              <a:t>outLoop</a:t>
            </a:r>
            <a:r>
              <a:rPr lang="en-US" dirty="0"/>
              <a:t> , out=out );</a:t>
            </a:r>
          </a:p>
          <a:p>
            <a:r>
              <a:rPr lang="en-US" dirty="0"/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8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"/>
              </a:defRPr>
            </a:pPr>
            <a:r>
              <a:rPr dirty="0" err="1" smtClean="0"/>
              <a:t>Register.hdl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  <a:latin typeface="Aptos"/>
              </a:defRPr>
            </a:pPr>
            <a:r>
              <a:t>NAND2Tetris Hardware Simulator-style code 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34439"/>
            <a:ext cx="5558971" cy="50749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Project 3 • NAND2Tetris • Jyoti Sharma    3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0" y="274320"/>
            <a:ext cx="5094514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CHIP Register {</a:t>
            </a:r>
          </a:p>
          <a:p>
            <a:r>
              <a:rPr lang="en-US" dirty="0"/>
              <a:t>    IN in[16], load;</a:t>
            </a:r>
          </a:p>
          <a:p>
            <a:r>
              <a:rPr lang="en-US" dirty="0"/>
              <a:t>    OUT out[16];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    PARTS:</a:t>
            </a:r>
          </a:p>
          <a:p>
            <a:r>
              <a:rPr lang="en-US" dirty="0"/>
              <a:t>    //// Replace this comment with your code.</a:t>
            </a:r>
          </a:p>
          <a:p>
            <a:r>
              <a:rPr lang="en-US" dirty="0"/>
              <a:t>    Bit(in=in[0],  load=load, out=out[0]);</a:t>
            </a:r>
          </a:p>
          <a:p>
            <a:r>
              <a:rPr lang="en-US" dirty="0"/>
              <a:t>    Bit(in=in[1],  load=load, out=out[1]);</a:t>
            </a:r>
          </a:p>
          <a:p>
            <a:r>
              <a:rPr lang="en-US" dirty="0"/>
              <a:t>    Bit(in=in[2],  load=load, out=out[2]);</a:t>
            </a:r>
          </a:p>
          <a:p>
            <a:r>
              <a:rPr lang="en-US" dirty="0"/>
              <a:t>    Bit(in=in[3],  load=load, out=out[3]);</a:t>
            </a:r>
          </a:p>
          <a:p>
            <a:r>
              <a:rPr lang="en-US" dirty="0"/>
              <a:t>    Bit(in=in[4],  load=load, out=out[4]);</a:t>
            </a:r>
          </a:p>
          <a:p>
            <a:r>
              <a:rPr lang="en-US" dirty="0"/>
              <a:t>    Bit(in=in[5],  load=load, out=out[5]);</a:t>
            </a:r>
          </a:p>
          <a:p>
            <a:r>
              <a:rPr lang="en-US" dirty="0"/>
              <a:t>    Bit(in=in[6],  load=load, out=out[6]);</a:t>
            </a:r>
          </a:p>
          <a:p>
            <a:r>
              <a:rPr lang="en-US" dirty="0"/>
              <a:t>    Bit(in=in[7],  load=load, out=out[7]);</a:t>
            </a:r>
          </a:p>
          <a:p>
            <a:r>
              <a:rPr lang="en-US" dirty="0"/>
              <a:t>    Bit(in=in[8],  load=load, out=out[8]);</a:t>
            </a:r>
          </a:p>
          <a:p>
            <a:r>
              <a:rPr lang="en-US" dirty="0"/>
              <a:t>    Bit(in=in[9],  load=load, out=out[9]);</a:t>
            </a:r>
          </a:p>
          <a:p>
            <a:r>
              <a:rPr lang="en-US" dirty="0"/>
              <a:t>    Bit(in=in[10], load=load, out=out[10]);</a:t>
            </a:r>
          </a:p>
          <a:p>
            <a:r>
              <a:rPr lang="en-US" dirty="0"/>
              <a:t>    Bit(in=in[11], load=load, out=out[11]);</a:t>
            </a:r>
          </a:p>
          <a:p>
            <a:r>
              <a:rPr lang="en-US" dirty="0"/>
              <a:t>    Bit(in=in[12], load=load, out=out[12]);</a:t>
            </a:r>
          </a:p>
          <a:p>
            <a:r>
              <a:rPr lang="en-US" dirty="0"/>
              <a:t>    Bit(in=in[13], load=load, out=out[13]);</a:t>
            </a:r>
          </a:p>
          <a:p>
            <a:r>
              <a:rPr lang="en-US" dirty="0"/>
              <a:t>    Bit(in=in[14], load=load, out=out[14]);</a:t>
            </a:r>
          </a:p>
          <a:p>
            <a:r>
              <a:rPr lang="en-US" dirty="0"/>
              <a:t>    Bit(in=in[15], load=load, out=out[15]);</a:t>
            </a:r>
          </a:p>
          <a:p>
            <a:r>
              <a:rPr lang="en-US" dirty="0"/>
              <a:t>}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863771" y="-95012"/>
            <a:ext cx="19343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Code of REGISTER </a:t>
            </a:r>
            <a:endParaRPr lang="en-IN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1208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"/>
              </a:defRPr>
            </a:pPr>
            <a:r>
              <a:t>RAM8.hdl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  <a:latin typeface="Aptos"/>
              </a:defRPr>
            </a:pPr>
            <a:r>
              <a:t>NAND2Tetris Hardware Simulator-style code 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14" y="1234440"/>
            <a:ext cx="5715726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Project 3 • NAND2Tetris • Jyoti Sharma    4</a:t>
            </a:r>
          </a:p>
        </p:txBody>
      </p:sp>
      <p:sp>
        <p:nvSpPr>
          <p:cNvPr id="6" name="Rectangle 5"/>
          <p:cNvSpPr/>
          <p:nvPr/>
        </p:nvSpPr>
        <p:spPr>
          <a:xfrm>
            <a:off x="6604000" y="822960"/>
            <a:ext cx="52832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CHIP RAM8 {</a:t>
            </a:r>
          </a:p>
          <a:p>
            <a:r>
              <a:rPr lang="en-US" dirty="0"/>
              <a:t>    IN in[16], load, address[3];</a:t>
            </a:r>
          </a:p>
          <a:p>
            <a:r>
              <a:rPr lang="en-US" dirty="0"/>
              <a:t>    OUT out[16];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    PARTS:</a:t>
            </a:r>
          </a:p>
          <a:p>
            <a:r>
              <a:rPr lang="en-US" dirty="0"/>
              <a:t>    //// Replace this comment with your code.</a:t>
            </a:r>
          </a:p>
          <a:p>
            <a:r>
              <a:rPr lang="en-US" dirty="0"/>
              <a:t>    DMux8Way(in=load , </a:t>
            </a:r>
            <a:r>
              <a:rPr lang="en-US" dirty="0" err="1"/>
              <a:t>sel</a:t>
            </a:r>
            <a:r>
              <a:rPr lang="en-US" dirty="0"/>
              <a:t>= address, a=l0 , b= l1, c= l2, d=l3 , e=l4 , f=l5 , g=l6 , h=l7 );</a:t>
            </a:r>
          </a:p>
          <a:p>
            <a:r>
              <a:rPr lang="en-US" dirty="0"/>
              <a:t>    Register(in=in , load= l0, out=r0 );</a:t>
            </a:r>
          </a:p>
          <a:p>
            <a:r>
              <a:rPr lang="en-US" dirty="0"/>
              <a:t>    Register(in=in , load=l1 , out=r1 );</a:t>
            </a:r>
          </a:p>
          <a:p>
            <a:r>
              <a:rPr lang="en-US" dirty="0"/>
              <a:t>    Register(in=in , load=l2 , out=r2 );</a:t>
            </a:r>
          </a:p>
          <a:p>
            <a:r>
              <a:rPr lang="en-US" dirty="0"/>
              <a:t>    Register(in=in , load=l3 , out=r3 );</a:t>
            </a:r>
          </a:p>
          <a:p>
            <a:r>
              <a:rPr lang="en-US" dirty="0"/>
              <a:t>    Register(in=in , load=l4 , out=r4 );</a:t>
            </a:r>
          </a:p>
          <a:p>
            <a:r>
              <a:rPr lang="en-US" dirty="0"/>
              <a:t>    Register(in=in , load=l5 , out=r5 );</a:t>
            </a:r>
          </a:p>
          <a:p>
            <a:r>
              <a:rPr lang="en-US" dirty="0"/>
              <a:t>    Register(in=in , load=l6 , out=r6 );</a:t>
            </a:r>
          </a:p>
          <a:p>
            <a:r>
              <a:rPr lang="en-US" dirty="0"/>
              <a:t>    Register(in=in , load=l7 , out=r7 );</a:t>
            </a:r>
          </a:p>
          <a:p>
            <a:r>
              <a:rPr lang="en-US" dirty="0"/>
              <a:t>    Mux8Way16(a=r0 , b= r1, c=r2 , d= r3,e=r4 , f=r5 , g=r6 , h=r7,sel=address, out=out );</a:t>
            </a:r>
          </a:p>
          <a:p>
            <a:r>
              <a:rPr lang="en-US" dirty="0"/>
              <a:t>    </a:t>
            </a:r>
          </a:p>
          <a:p>
            <a:r>
              <a:rPr lang="en-US" dirty="0"/>
              <a:t>}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604000" y="238425"/>
            <a:ext cx="16129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Code of RAM8 </a:t>
            </a:r>
            <a:endParaRPr lang="en-IN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"/>
              </a:defRPr>
            </a:pPr>
            <a:r>
              <a:t>RAM64.hdl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  <a:latin typeface="Aptos"/>
              </a:defRPr>
            </a:pPr>
            <a:r>
              <a:t>NAND2Tetris Hardware Simulator-style code 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70" y="1234440"/>
            <a:ext cx="561703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Project 3 • NAND2Tetris • Jyoti Sharma  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6053328" y="822960"/>
            <a:ext cx="6138672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CHIP RAM64 {</a:t>
            </a:r>
          </a:p>
          <a:p>
            <a:r>
              <a:rPr lang="en-US" dirty="0"/>
              <a:t>    IN in[16], load, address[6];</a:t>
            </a:r>
          </a:p>
          <a:p>
            <a:r>
              <a:rPr lang="en-US" dirty="0"/>
              <a:t>    OUT out[16];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    PARTS:</a:t>
            </a:r>
          </a:p>
          <a:p>
            <a:r>
              <a:rPr lang="en-US" dirty="0"/>
              <a:t>    //// Replace this comment with your code.</a:t>
            </a:r>
          </a:p>
          <a:p>
            <a:r>
              <a:rPr lang="en-US" dirty="0"/>
              <a:t>    DMux8Way(in=load , </a:t>
            </a:r>
            <a:r>
              <a:rPr lang="en-US" dirty="0" err="1"/>
              <a:t>sel</a:t>
            </a:r>
            <a:r>
              <a:rPr lang="en-US" dirty="0"/>
              <a:t>=address[3..5] , a=l0 , b=l1 , c=l2 , d=l3 , e=l4 , f=l5 , g=l6 , h=l7 );</a:t>
            </a:r>
          </a:p>
          <a:p>
            <a:r>
              <a:rPr lang="en-US" dirty="0"/>
              <a:t>    RAM8(in=in , load=l0 , address=address[0..2] , out=r0 );</a:t>
            </a:r>
          </a:p>
          <a:p>
            <a:r>
              <a:rPr lang="en-US" dirty="0"/>
              <a:t>    RAM8(in=in , load=l1 , address=address[0..2] , out=r1 );</a:t>
            </a:r>
          </a:p>
          <a:p>
            <a:r>
              <a:rPr lang="en-US" dirty="0"/>
              <a:t>    RAM8(in=in , load=l2 , address=address[0..2] , out=r2 );</a:t>
            </a:r>
          </a:p>
          <a:p>
            <a:r>
              <a:rPr lang="en-US" dirty="0"/>
              <a:t>    RAM8(in=in , load=l3 , address=address[0..2] , out=r3 );</a:t>
            </a:r>
          </a:p>
          <a:p>
            <a:r>
              <a:rPr lang="en-US" dirty="0"/>
              <a:t>    RAM8(in=in , load=l4 , address=address[0..2] , out=r4 );</a:t>
            </a:r>
          </a:p>
          <a:p>
            <a:r>
              <a:rPr lang="en-US" dirty="0"/>
              <a:t>    RAM8(in=in , load=l5 , address=address[0..2] , out=r5 );</a:t>
            </a:r>
          </a:p>
          <a:p>
            <a:r>
              <a:rPr lang="en-US" dirty="0"/>
              <a:t>    RAM8(in=in , load=l6 , address=address[0..2] , out=r6 );</a:t>
            </a:r>
          </a:p>
          <a:p>
            <a:r>
              <a:rPr lang="en-US" dirty="0"/>
              <a:t>    RAM8(in=in , load=l7 , address=address[0..2] , out=r7 );</a:t>
            </a:r>
          </a:p>
          <a:p>
            <a:r>
              <a:rPr lang="en-US" dirty="0"/>
              <a:t>    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    Mux8Way16(a= r0, b=r1 , c=r2 , d=r3 , e=r4 , f=r5 , g=r6 , h=r7 , </a:t>
            </a:r>
            <a:r>
              <a:rPr lang="en-US" dirty="0" err="1"/>
              <a:t>sel</a:t>
            </a:r>
            <a:r>
              <a:rPr lang="en-US" dirty="0"/>
              <a:t>=address[3..5] , out=out );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6200898" y="409694"/>
            <a:ext cx="16770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Code of RAM64</a:t>
            </a:r>
            <a:endParaRPr lang="en-IN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"/>
              </a:defRPr>
            </a:pPr>
            <a:r>
              <a:t>RAM512.hdl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  <a:latin typeface="Aptos"/>
              </a:defRPr>
            </a:pPr>
            <a:r>
              <a:t>NAND2Tetris Hardware Simulator-style code 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29" y="1174569"/>
            <a:ext cx="4963885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Project 3 • NAND2Tetris • Jyoti Sharma   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834743" y="757374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CHIP RAM512 {</a:t>
            </a:r>
          </a:p>
          <a:p>
            <a:r>
              <a:rPr lang="en-US" dirty="0"/>
              <a:t>    IN in[16], load, address[9];</a:t>
            </a:r>
          </a:p>
          <a:p>
            <a:r>
              <a:rPr lang="en-US" dirty="0"/>
              <a:t>    OUT out[16];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    PARTS:</a:t>
            </a:r>
          </a:p>
          <a:p>
            <a:r>
              <a:rPr lang="en-US" dirty="0"/>
              <a:t>    </a:t>
            </a:r>
          </a:p>
          <a:p>
            <a:r>
              <a:rPr lang="en-US" dirty="0"/>
              <a:t>    DMux8Way(in=load, </a:t>
            </a:r>
            <a:r>
              <a:rPr lang="en-US" dirty="0" err="1"/>
              <a:t>sel</a:t>
            </a:r>
            <a:r>
              <a:rPr lang="en-US" dirty="0"/>
              <a:t>=address[6..8], a=la, b=</a:t>
            </a:r>
            <a:r>
              <a:rPr lang="en-US" dirty="0" err="1"/>
              <a:t>lb</a:t>
            </a:r>
            <a:r>
              <a:rPr lang="en-US" dirty="0"/>
              <a:t>, c=</a:t>
            </a:r>
            <a:r>
              <a:rPr lang="en-US" dirty="0" err="1"/>
              <a:t>lc</a:t>
            </a:r>
            <a:r>
              <a:rPr lang="en-US" dirty="0"/>
              <a:t>, d=</a:t>
            </a:r>
            <a:r>
              <a:rPr lang="en-US" dirty="0" err="1"/>
              <a:t>ld</a:t>
            </a:r>
            <a:r>
              <a:rPr lang="en-US" dirty="0"/>
              <a:t>, e=le, f=lf, g=</a:t>
            </a:r>
            <a:r>
              <a:rPr lang="en-US" dirty="0" err="1"/>
              <a:t>lg</a:t>
            </a:r>
            <a:r>
              <a:rPr lang="en-US" dirty="0"/>
              <a:t>, h=</a:t>
            </a:r>
            <a:r>
              <a:rPr lang="en-US" dirty="0" err="1"/>
              <a:t>lh</a:t>
            </a:r>
            <a:r>
              <a:rPr lang="en-US" dirty="0"/>
              <a:t>);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    </a:t>
            </a:r>
          </a:p>
          <a:p>
            <a:r>
              <a:rPr lang="en-US" dirty="0"/>
              <a:t>    RAM64(in=in, load=la, address=address[0..5], out=o1);</a:t>
            </a:r>
          </a:p>
          <a:p>
            <a:r>
              <a:rPr lang="en-US" dirty="0"/>
              <a:t>    RAM64(in=in, load=</a:t>
            </a:r>
            <a:r>
              <a:rPr lang="en-US" dirty="0" err="1"/>
              <a:t>lb</a:t>
            </a:r>
            <a:r>
              <a:rPr lang="en-US" dirty="0"/>
              <a:t>, address=address[0..5], out=o2);</a:t>
            </a:r>
          </a:p>
          <a:p>
            <a:r>
              <a:rPr lang="en-US" dirty="0"/>
              <a:t>    RAM64(in=in, load=</a:t>
            </a:r>
            <a:r>
              <a:rPr lang="en-US" dirty="0" err="1"/>
              <a:t>lc</a:t>
            </a:r>
            <a:r>
              <a:rPr lang="en-US" dirty="0"/>
              <a:t>, address=address[0..5], out=o3);</a:t>
            </a:r>
          </a:p>
          <a:p>
            <a:r>
              <a:rPr lang="en-US" dirty="0"/>
              <a:t>    RAM64(in=in, load=</a:t>
            </a:r>
            <a:r>
              <a:rPr lang="en-US" dirty="0" err="1"/>
              <a:t>ld</a:t>
            </a:r>
            <a:r>
              <a:rPr lang="en-US" dirty="0"/>
              <a:t>, address=address[0..5], out=o4);</a:t>
            </a:r>
          </a:p>
          <a:p>
            <a:r>
              <a:rPr lang="en-US" dirty="0"/>
              <a:t>    RAM64(in=in, load=le, address=address[0..5], out=o5);</a:t>
            </a:r>
          </a:p>
          <a:p>
            <a:r>
              <a:rPr lang="en-US" dirty="0"/>
              <a:t>    RAM64(in=in, load=lf, address=address[0..5], out=o6);</a:t>
            </a:r>
          </a:p>
          <a:p>
            <a:r>
              <a:rPr lang="en-US" dirty="0"/>
              <a:t>    RAM64(in=in, load=</a:t>
            </a:r>
            <a:r>
              <a:rPr lang="en-US" dirty="0" err="1"/>
              <a:t>lg</a:t>
            </a:r>
            <a:r>
              <a:rPr lang="en-US" dirty="0"/>
              <a:t>, address=address[0..5], out=o7);</a:t>
            </a:r>
          </a:p>
          <a:p>
            <a:r>
              <a:rPr lang="en-US" dirty="0"/>
              <a:t>    RAM64(in=in, load=</a:t>
            </a:r>
            <a:r>
              <a:rPr lang="en-US" dirty="0" err="1"/>
              <a:t>lh</a:t>
            </a:r>
            <a:r>
              <a:rPr lang="en-US" dirty="0"/>
              <a:t>, address=address[0..5], out=o8);</a:t>
            </a:r>
          </a:p>
          <a:p>
            <a:r>
              <a:rPr lang="en-US" dirty="0"/>
              <a:t>    Mux8Way16(a=o1, b=o2, c=o3, d=o4, e=o5, f=o6, g=o7, h=o8, </a:t>
            </a:r>
            <a:r>
              <a:rPr lang="en-US" dirty="0" err="1"/>
              <a:t>sel</a:t>
            </a:r>
            <a:r>
              <a:rPr lang="en-US" dirty="0"/>
              <a:t>=address[6..8], out=out);</a:t>
            </a:r>
          </a:p>
          <a:p>
            <a:r>
              <a:rPr lang="en-US" dirty="0"/>
              <a:t>}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875383" y="274320"/>
            <a:ext cx="17940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Code of RAM512</a:t>
            </a:r>
            <a:endParaRPr lang="en-IN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"/>
              </a:defRPr>
            </a:pPr>
            <a:r>
              <a:t>RAM4K.hdl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  <a:latin typeface="Aptos"/>
              </a:defRPr>
            </a:pPr>
            <a:r>
              <a:t>NAND2Tetris Hardware Simulator-style code 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" y="1234440"/>
            <a:ext cx="5442858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Project 3 • NAND2Tetris • Jyoti Sharma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6628" y="1143000"/>
            <a:ext cx="568960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CHIP RAM4K {</a:t>
            </a:r>
          </a:p>
          <a:p>
            <a:r>
              <a:rPr lang="en-US" dirty="0"/>
              <a:t>    IN in[16], load, address[12];</a:t>
            </a:r>
          </a:p>
          <a:p>
            <a:r>
              <a:rPr lang="en-US" dirty="0"/>
              <a:t>    OUT out[16];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    PARTS:</a:t>
            </a:r>
          </a:p>
          <a:p>
            <a:r>
              <a:rPr lang="en-US" dirty="0"/>
              <a:t>    DMux8Way(in=load, </a:t>
            </a:r>
            <a:r>
              <a:rPr lang="en-US" dirty="0" err="1"/>
              <a:t>sel</a:t>
            </a:r>
            <a:r>
              <a:rPr lang="en-US" dirty="0"/>
              <a:t>=address[9..11], a=la, b=</a:t>
            </a:r>
            <a:r>
              <a:rPr lang="en-US" dirty="0" err="1"/>
              <a:t>lb</a:t>
            </a:r>
            <a:r>
              <a:rPr lang="en-US" dirty="0"/>
              <a:t>, c=</a:t>
            </a:r>
            <a:r>
              <a:rPr lang="en-US" dirty="0" err="1"/>
              <a:t>lc</a:t>
            </a:r>
            <a:r>
              <a:rPr lang="en-US" dirty="0"/>
              <a:t>, d=</a:t>
            </a:r>
            <a:r>
              <a:rPr lang="en-US" dirty="0" err="1"/>
              <a:t>ld</a:t>
            </a:r>
            <a:r>
              <a:rPr lang="en-US" dirty="0"/>
              <a:t>, e=le, f=lf, g=</a:t>
            </a:r>
            <a:r>
              <a:rPr lang="en-US" dirty="0" err="1"/>
              <a:t>lg</a:t>
            </a:r>
            <a:r>
              <a:rPr lang="en-US" dirty="0"/>
              <a:t>, h=</a:t>
            </a:r>
            <a:r>
              <a:rPr lang="en-US" dirty="0" err="1"/>
              <a:t>lh</a:t>
            </a:r>
            <a:r>
              <a:rPr lang="en-US" dirty="0"/>
              <a:t>);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    </a:t>
            </a:r>
          </a:p>
          <a:p>
            <a:r>
              <a:rPr lang="en-US" dirty="0"/>
              <a:t>    RAM512(in=in, load=la, address=address[0..8], out=o1);</a:t>
            </a:r>
          </a:p>
          <a:p>
            <a:r>
              <a:rPr lang="en-US" dirty="0"/>
              <a:t>    RAM512(in=in, load=</a:t>
            </a:r>
            <a:r>
              <a:rPr lang="en-US" dirty="0" err="1"/>
              <a:t>lb</a:t>
            </a:r>
            <a:r>
              <a:rPr lang="en-US" dirty="0"/>
              <a:t>, address=address[0..8], out=o2);</a:t>
            </a:r>
          </a:p>
          <a:p>
            <a:r>
              <a:rPr lang="en-US" dirty="0"/>
              <a:t>    RAM512(in=in, load=</a:t>
            </a:r>
            <a:r>
              <a:rPr lang="en-US" dirty="0" err="1"/>
              <a:t>lc</a:t>
            </a:r>
            <a:r>
              <a:rPr lang="en-US" dirty="0"/>
              <a:t>, address=address[0..8], out=o3);</a:t>
            </a:r>
          </a:p>
          <a:p>
            <a:r>
              <a:rPr lang="en-US" dirty="0"/>
              <a:t>    RAM512(in=in, load=</a:t>
            </a:r>
            <a:r>
              <a:rPr lang="en-US" dirty="0" err="1"/>
              <a:t>ld</a:t>
            </a:r>
            <a:r>
              <a:rPr lang="en-US" dirty="0"/>
              <a:t>, address=address[0..8], out=o4);</a:t>
            </a:r>
          </a:p>
          <a:p>
            <a:r>
              <a:rPr lang="en-US" dirty="0"/>
              <a:t>    RAM512(in=in, load=le, address=address[0..8], out=o5);</a:t>
            </a:r>
          </a:p>
          <a:p>
            <a:r>
              <a:rPr lang="en-US" dirty="0"/>
              <a:t>    RAM512(in=in, load=lf, address=address[0..8], out=o6);</a:t>
            </a:r>
          </a:p>
          <a:p>
            <a:r>
              <a:rPr lang="en-US" dirty="0"/>
              <a:t>    RAM512(in=in, load=</a:t>
            </a:r>
            <a:r>
              <a:rPr lang="en-US" dirty="0" err="1"/>
              <a:t>lg</a:t>
            </a:r>
            <a:r>
              <a:rPr lang="en-US" dirty="0"/>
              <a:t>, address=address[0..8], out=o7);</a:t>
            </a:r>
          </a:p>
          <a:p>
            <a:r>
              <a:rPr lang="en-US" dirty="0"/>
              <a:t>    RAM512(in=in, load=</a:t>
            </a:r>
            <a:r>
              <a:rPr lang="en-US" dirty="0" err="1"/>
              <a:t>lh</a:t>
            </a:r>
            <a:r>
              <a:rPr lang="en-US" dirty="0"/>
              <a:t>, address=address[0..8], out=o8);</a:t>
            </a:r>
          </a:p>
          <a:p>
            <a:r>
              <a:rPr lang="en-US" dirty="0"/>
              <a:t>    Mux8Way16(a=o1, b=o2, c=o3, d=o4, e=o5, f=o6, g=o7, h=o8, </a:t>
            </a:r>
            <a:r>
              <a:rPr lang="en-US" dirty="0" err="1"/>
              <a:t>sel</a:t>
            </a:r>
            <a:r>
              <a:rPr lang="en-US" dirty="0"/>
              <a:t>=address[9..11], out=out);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415313" y="563602"/>
            <a:ext cx="197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Code of RAM4K</a:t>
            </a:r>
            <a:endParaRPr lang="en-IN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"/>
              </a:defRPr>
            </a:pPr>
            <a:r>
              <a:t>RAM16K.hdl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  <a:latin typeface="Aptos"/>
              </a:defRPr>
            </a:pPr>
            <a:r>
              <a:t>NAND2Tetris Hardware Simulator-style code 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2" y="1234440"/>
            <a:ext cx="5935617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Project 3 • NAND2Tetris • Jyoti Sharma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4137" y="1234440"/>
            <a:ext cx="500742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CHIP RAM16K {</a:t>
            </a:r>
          </a:p>
          <a:p>
            <a:r>
              <a:rPr lang="en-US" dirty="0"/>
              <a:t>    IN in[16], load, address[14];</a:t>
            </a:r>
          </a:p>
          <a:p>
            <a:r>
              <a:rPr lang="en-US" dirty="0"/>
              <a:t>    OUT out[16];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    PARTS:</a:t>
            </a:r>
          </a:p>
          <a:p>
            <a:r>
              <a:rPr lang="en-US" dirty="0"/>
              <a:t>    DMux4Way(in=load, </a:t>
            </a:r>
            <a:r>
              <a:rPr lang="en-US" dirty="0" err="1"/>
              <a:t>sel</a:t>
            </a:r>
            <a:r>
              <a:rPr lang="en-US" dirty="0"/>
              <a:t>=address[12..13], a=la, b=</a:t>
            </a:r>
            <a:r>
              <a:rPr lang="en-US" dirty="0" err="1"/>
              <a:t>lb</a:t>
            </a:r>
            <a:r>
              <a:rPr lang="en-US" dirty="0"/>
              <a:t>, c=</a:t>
            </a:r>
            <a:r>
              <a:rPr lang="en-US" dirty="0" err="1"/>
              <a:t>lc</a:t>
            </a:r>
            <a:r>
              <a:rPr lang="en-US" dirty="0"/>
              <a:t>, d=</a:t>
            </a:r>
            <a:r>
              <a:rPr lang="en-US" dirty="0" err="1"/>
              <a:t>ld</a:t>
            </a:r>
            <a:r>
              <a:rPr lang="en-US" dirty="0"/>
              <a:t>);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    </a:t>
            </a:r>
          </a:p>
          <a:p>
            <a:r>
              <a:rPr lang="en-US" dirty="0"/>
              <a:t>    RAM4K(in=in, load=la, address=address[0..11], out=o1);</a:t>
            </a:r>
          </a:p>
          <a:p>
            <a:r>
              <a:rPr lang="en-US" dirty="0"/>
              <a:t>    RAM4K(in=in, load=</a:t>
            </a:r>
            <a:r>
              <a:rPr lang="en-US" dirty="0" err="1"/>
              <a:t>lb</a:t>
            </a:r>
            <a:r>
              <a:rPr lang="en-US" dirty="0"/>
              <a:t>, address=address[0..11], out=o2);</a:t>
            </a:r>
          </a:p>
          <a:p>
            <a:r>
              <a:rPr lang="en-US" dirty="0"/>
              <a:t>    RAM4K(in=in, load=</a:t>
            </a:r>
            <a:r>
              <a:rPr lang="en-US" dirty="0" err="1"/>
              <a:t>lc</a:t>
            </a:r>
            <a:r>
              <a:rPr lang="en-US" dirty="0"/>
              <a:t>, address=address[0..11], out=o3);</a:t>
            </a:r>
          </a:p>
          <a:p>
            <a:r>
              <a:rPr lang="en-US" dirty="0"/>
              <a:t>    RAM4K(in=in, load=</a:t>
            </a:r>
            <a:r>
              <a:rPr lang="en-US" dirty="0" err="1"/>
              <a:t>ld</a:t>
            </a:r>
            <a:r>
              <a:rPr lang="en-US" dirty="0"/>
              <a:t>, address=address[0..11], out=o4);</a:t>
            </a:r>
          </a:p>
          <a:p>
            <a:r>
              <a:rPr lang="en-US" dirty="0"/>
              <a:t>    Mux4Way16(a=o1, b=o2, c=o3, d=o4, </a:t>
            </a:r>
            <a:r>
              <a:rPr lang="en-US" dirty="0" err="1"/>
              <a:t>sel</a:t>
            </a:r>
            <a:r>
              <a:rPr lang="en-US" dirty="0"/>
              <a:t>=address[12..13], out=out);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923314" y="594360"/>
            <a:ext cx="2191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Code of RAM16K</a:t>
            </a:r>
            <a:endParaRPr lang="en-IN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"/>
              </a:defRPr>
            </a:pPr>
            <a:r>
              <a:t>PC.hdl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  <a:latin typeface="Aptos"/>
              </a:defRPr>
            </a:pPr>
            <a:r>
              <a:t>NAND2Tetris Hardware Simulator-style code view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57" y="1234440"/>
            <a:ext cx="6125029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Project 3 • NAND2Tetris • Jyoti Sharma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24914" y="1509742"/>
            <a:ext cx="451481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CHIP PC {</a:t>
            </a:r>
          </a:p>
          <a:p>
            <a:r>
              <a:rPr lang="en-US" dirty="0"/>
              <a:t>    IN in[16], reset, load, </a:t>
            </a:r>
            <a:r>
              <a:rPr lang="en-US" dirty="0" err="1"/>
              <a:t>inc</a:t>
            </a:r>
            <a:r>
              <a:rPr lang="en-US" dirty="0"/>
              <a:t>;</a:t>
            </a:r>
          </a:p>
          <a:p>
            <a:r>
              <a:rPr lang="en-US" dirty="0"/>
              <a:t>    OUT out[16];</a:t>
            </a:r>
          </a:p>
          <a:p>
            <a:r>
              <a:rPr lang="en-US" dirty="0"/>
              <a:t>    </a:t>
            </a:r>
          </a:p>
          <a:p>
            <a:r>
              <a:rPr lang="en-US" dirty="0"/>
              <a:t>    PARTS:</a:t>
            </a:r>
          </a:p>
          <a:p>
            <a:r>
              <a:rPr lang="en-US" dirty="0"/>
              <a:t>    Inc16(in=</a:t>
            </a:r>
            <a:r>
              <a:rPr lang="en-US" dirty="0" err="1"/>
              <a:t>fbout</a:t>
            </a:r>
            <a:r>
              <a:rPr lang="en-US" dirty="0"/>
              <a:t>, out=</a:t>
            </a:r>
            <a:r>
              <a:rPr lang="en-US" dirty="0" err="1"/>
              <a:t>incout</a:t>
            </a:r>
            <a:r>
              <a:rPr lang="en-US" dirty="0"/>
              <a:t>);</a:t>
            </a:r>
          </a:p>
          <a:p>
            <a:r>
              <a:rPr lang="en-US" dirty="0"/>
              <a:t>    Mux16(a=</a:t>
            </a:r>
            <a:r>
              <a:rPr lang="en-US" dirty="0" err="1"/>
              <a:t>fbout</a:t>
            </a:r>
            <a:r>
              <a:rPr lang="en-US" dirty="0"/>
              <a:t>, b=</a:t>
            </a:r>
            <a:r>
              <a:rPr lang="en-US" dirty="0" err="1"/>
              <a:t>incout</a:t>
            </a:r>
            <a:r>
              <a:rPr lang="en-US" dirty="0"/>
              <a:t>, </a:t>
            </a:r>
            <a:r>
              <a:rPr lang="en-US" dirty="0" err="1"/>
              <a:t>sel</a:t>
            </a:r>
            <a:r>
              <a:rPr lang="en-US" dirty="0"/>
              <a:t>=</a:t>
            </a:r>
            <a:r>
              <a:rPr lang="en-US" dirty="0" err="1"/>
              <a:t>inc</a:t>
            </a:r>
            <a:r>
              <a:rPr lang="en-US" dirty="0"/>
              <a:t>, out=</a:t>
            </a:r>
            <a:r>
              <a:rPr lang="en-US" dirty="0" err="1"/>
              <a:t>outinc</a:t>
            </a:r>
            <a:r>
              <a:rPr lang="en-US" dirty="0"/>
              <a:t>);</a:t>
            </a:r>
          </a:p>
          <a:p>
            <a:r>
              <a:rPr lang="en-US" dirty="0"/>
              <a:t>    Mux16(a=</a:t>
            </a:r>
            <a:r>
              <a:rPr lang="en-US" dirty="0" err="1"/>
              <a:t>outinc</a:t>
            </a:r>
            <a:r>
              <a:rPr lang="en-US" dirty="0"/>
              <a:t>, b=in, </a:t>
            </a:r>
            <a:r>
              <a:rPr lang="en-US" dirty="0" err="1"/>
              <a:t>sel</a:t>
            </a:r>
            <a:r>
              <a:rPr lang="en-US" dirty="0"/>
              <a:t>=load, out=outload);</a:t>
            </a:r>
          </a:p>
          <a:p>
            <a:r>
              <a:rPr lang="en-US" dirty="0"/>
              <a:t>    Mux16(a=outload, b=false, </a:t>
            </a:r>
            <a:r>
              <a:rPr lang="en-US" dirty="0" err="1"/>
              <a:t>sel</a:t>
            </a:r>
            <a:r>
              <a:rPr lang="en-US" dirty="0"/>
              <a:t>=reset, out=</a:t>
            </a:r>
            <a:r>
              <a:rPr lang="en-US" dirty="0" err="1"/>
              <a:t>outreset</a:t>
            </a:r>
            <a:r>
              <a:rPr lang="en-US" dirty="0"/>
              <a:t>);</a:t>
            </a:r>
          </a:p>
          <a:p>
            <a:r>
              <a:rPr lang="en-US" dirty="0"/>
              <a:t>    Register(in=</a:t>
            </a:r>
            <a:r>
              <a:rPr lang="en-US" dirty="0" err="1"/>
              <a:t>outreset</a:t>
            </a:r>
            <a:r>
              <a:rPr lang="en-US" dirty="0"/>
              <a:t>, load=true, out=out, out=</a:t>
            </a:r>
            <a:r>
              <a:rPr lang="en-US" dirty="0" err="1"/>
              <a:t>fbout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024913" y="638657"/>
            <a:ext cx="2257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B050"/>
                </a:solidFill>
              </a:rPr>
              <a:t>Code of PC</a:t>
            </a:r>
            <a:endParaRPr lang="en-IN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6"/>
                </a:solidFill>
                <a:latin typeface="Aptos"/>
              </a:defRPr>
            </a:pPr>
            <a:r>
              <a:t>Project 3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6E"/>
                </a:solidFill>
                <a:latin typeface="Aptos"/>
              </a:defRPr>
            </a:pPr>
            <a:r>
              <a:t>All main sequential chips and memory hierarchy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4937760" cy="685800"/>
          </a:xfrm>
          <a:prstGeom prst="roundRect">
            <a:avLst/>
          </a:prstGeom>
          <a:solidFill>
            <a:srgbClr val="F6F9FB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D46"/>
                </a:solidFill>
              </a:defRPr>
            </a:pPr>
            <a:r>
              <a:t>Bit — 1-bit storage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4937760" cy="685800"/>
          </a:xfrm>
          <a:prstGeom prst="roundRect">
            <a:avLst/>
          </a:prstGeom>
          <a:solidFill>
            <a:srgbClr val="F6F9FB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48132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D46"/>
                </a:solidFill>
              </a:defRPr>
            </a:pPr>
            <a:r>
              <a:t>Register — 16-bit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23160"/>
            <a:ext cx="4937760" cy="685800"/>
          </a:xfrm>
          <a:prstGeom prst="roundRect">
            <a:avLst/>
          </a:prstGeom>
          <a:solidFill>
            <a:srgbClr val="F6F9FB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53288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D46"/>
                </a:solidFill>
              </a:defRPr>
            </a:pPr>
            <a:r>
              <a:t>RAM8 — 8 × 16-bit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423160"/>
            <a:ext cx="4937760" cy="685800"/>
          </a:xfrm>
          <a:prstGeom prst="roundRect">
            <a:avLst/>
          </a:prstGeom>
          <a:solidFill>
            <a:srgbClr val="F6F9FB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53288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D46"/>
                </a:solidFill>
              </a:defRPr>
            </a:pPr>
            <a:r>
              <a:t>RAM64 — 64 × 16-bit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474720"/>
            <a:ext cx="4937760" cy="685800"/>
          </a:xfrm>
          <a:prstGeom prst="roundRect">
            <a:avLst/>
          </a:prstGeom>
          <a:solidFill>
            <a:srgbClr val="F6F9FB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58444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D46"/>
                </a:solidFill>
              </a:defRPr>
            </a:pPr>
            <a:r>
              <a:t>RAM512 — 512 × 16-bit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474720"/>
            <a:ext cx="4937760" cy="685800"/>
          </a:xfrm>
          <a:prstGeom prst="roundRect">
            <a:avLst/>
          </a:prstGeom>
          <a:solidFill>
            <a:srgbClr val="F6F9FB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58444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D46"/>
                </a:solidFill>
              </a:defRPr>
            </a:pPr>
            <a:r>
              <a:t>RAM4K — 4K × 16-bit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26279"/>
            <a:ext cx="4937760" cy="685800"/>
          </a:xfrm>
          <a:prstGeom prst="roundRect">
            <a:avLst/>
          </a:prstGeom>
          <a:solidFill>
            <a:srgbClr val="F6F9FB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636007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D46"/>
                </a:solidFill>
              </a:defRPr>
            </a:pPr>
            <a:r>
              <a:t>RAM16K — 16K × 16-bit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526279"/>
            <a:ext cx="4937760" cy="685800"/>
          </a:xfrm>
          <a:prstGeom prst="roundRect">
            <a:avLst/>
          </a:prstGeom>
          <a:solidFill>
            <a:srgbClr val="F6F9FB"/>
          </a:solidFill>
          <a:ln>
            <a:solidFill>
              <a:srgbClr val="D7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4636007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2D46"/>
                </a:solidFill>
              </a:defRPr>
            </a:pPr>
            <a:r>
              <a:t>PC — Program Counter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Each HDL file can be opened and tested with its matching .tst file in the Hardware Simulator.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6E"/>
                </a:solidFill>
              </a:defRPr>
            </a:pPr>
            <a:r>
              <a:t>Project 3 • NAND2Tetris • Jyoti Sharma  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270</Words>
  <Application>Microsoft Office PowerPoint</Application>
  <PresentationFormat>Custom</PresentationFormat>
  <Paragraphs>180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CCS</cp:lastModifiedBy>
  <cp:revision>11</cp:revision>
  <dcterms:created xsi:type="dcterms:W3CDTF">2013-01-27T09:14:16Z</dcterms:created>
  <dcterms:modified xsi:type="dcterms:W3CDTF">2026-10-06T12:19:07Z</dcterms:modified>
  <cp:category/>
</cp:coreProperties>
</file>